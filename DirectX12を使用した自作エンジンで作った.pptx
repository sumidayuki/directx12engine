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9" r:id="rId2"/>
    <p:sldId id="257" r:id="rId3"/>
    <p:sldId id="261" r:id="rId4"/>
    <p:sldId id="271" r:id="rId5"/>
    <p:sldId id="265" r:id="rId6"/>
    <p:sldId id="264" r:id="rId7"/>
    <p:sldId id="269" r:id="rId8"/>
    <p:sldId id="270" r:id="rId9"/>
    <p:sldId id="272" r:id="rId10"/>
    <p:sldId id="273"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1492" autoAdjust="0"/>
  </p:normalViewPr>
  <p:slideViewPr>
    <p:cSldViewPr snapToGrid="0">
      <p:cViewPr>
        <p:scale>
          <a:sx n="66" d="100"/>
          <a:sy n="66" d="100"/>
        </p:scale>
        <p:origin x="1330"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BE819-CC61-4D00-952D-62932D570D99}" type="datetimeFigureOut">
              <a:rPr kumimoji="1" lang="ja-JP" altLang="en-US" smtClean="0"/>
              <a:t>2026/6/30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54184-1982-4751-AD34-058962B40775}" type="slidenum">
              <a:rPr kumimoji="1" lang="ja-JP" altLang="en-US" smtClean="0"/>
              <a:t>‹#›</a:t>
            </a:fld>
            <a:endParaRPr kumimoji="1" lang="ja-JP" altLang="en-US"/>
          </a:p>
        </p:txBody>
      </p:sp>
    </p:spTree>
    <p:extLst>
      <p:ext uri="{BB962C8B-B14F-4D97-AF65-F5344CB8AC3E}">
        <p14:creationId xmlns:p14="http://schemas.microsoft.com/office/powerpoint/2010/main" val="16476083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CF54184-1982-4751-AD34-058962B40775}" type="slidenum">
              <a:rPr kumimoji="1" lang="ja-JP" altLang="en-US" smtClean="0"/>
              <a:t>3</a:t>
            </a:fld>
            <a:endParaRPr kumimoji="1" lang="ja-JP" altLang="en-US"/>
          </a:p>
        </p:txBody>
      </p:sp>
    </p:spTree>
    <p:extLst>
      <p:ext uri="{BB962C8B-B14F-4D97-AF65-F5344CB8AC3E}">
        <p14:creationId xmlns:p14="http://schemas.microsoft.com/office/powerpoint/2010/main" val="4010187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37D456-1E4E-5AE9-2062-A3639CFE6C1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238793D-8D53-3192-F878-3ABE42627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AE5A43B-8A17-55E4-5FBD-3C8937202A44}"/>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19693D4D-CE25-66A9-3220-D869C12E73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C513090-6340-8966-BAE7-3921A27499FD}"/>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2826483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EAD31B-357D-C30C-A007-9728A05DF72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2CA047-12D1-EE18-623A-5A709154302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1CA7DD-0B3B-A124-E333-D77D028B7EDA}"/>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21A660D2-53C7-1A62-F239-98E32AC20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20E7E3A-1EB0-A8B9-1582-225ECF9BD213}"/>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831738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B6148-5E81-F627-BF47-BDF59DEB5DD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D205BB3-2828-2402-CC3E-D15166FAAE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0E0C5D-6E4D-6E31-DCFA-8E83E3262751}"/>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A1AEA4C4-36BF-8278-5471-C19083527B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913459F-76DC-6439-4576-8F5FCCA59BE1}"/>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3806488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3BFEAE-8468-979A-32B9-630484063F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494FEE-1746-4DCC-127B-7C29266B868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5415C83-FA0D-6E7E-35DD-B3808DDE4BB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9942AA2-1EDE-EEA4-E252-B52675987226}"/>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FA784046-8941-0E56-5F43-F0934B07CA9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AFA54ED-05F3-D154-8CF1-020EE63220D1}"/>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152287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5406A-CB7C-8522-A257-4B1A5CAFADC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CE938E-BA9C-9CC9-913F-4AEF771EA3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EBA1E16-AC9A-6CE7-B90C-53DE418976C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FA18A2-F6C1-CE02-376F-ED2E80B682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8A4BF76-2BC2-4231-8ACD-70EB11E66F7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89FFE83-EA1E-C4C0-743A-B93DB0EA2157}"/>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8" name="フッター プレースホルダー 7">
            <a:extLst>
              <a:ext uri="{FF2B5EF4-FFF2-40B4-BE49-F238E27FC236}">
                <a16:creationId xmlns:a16="http://schemas.microsoft.com/office/drawing/2014/main" id="{6524CB0A-EFEF-35E7-C1C3-51B90C237B4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491E8B4-391D-AF47-1235-1D6E1ACD2457}"/>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2917930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F71B0C-20E7-3972-67E3-7B5ACF69B3B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0F9F5A0-1EBB-583E-FCF2-CFEE94D5D801}"/>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4" name="フッター プレースホルダー 3">
            <a:extLst>
              <a:ext uri="{FF2B5EF4-FFF2-40B4-BE49-F238E27FC236}">
                <a16:creationId xmlns:a16="http://schemas.microsoft.com/office/drawing/2014/main" id="{15D0C4D2-6B06-BD75-A6FA-A6EE79A9A4A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B9090F2-E954-286E-42C9-AE3823968B4F}"/>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1647112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CBBE86C-6ED4-5A8A-72E8-A6FC98C2F5CD}"/>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3" name="フッター プレースホルダー 2">
            <a:extLst>
              <a:ext uri="{FF2B5EF4-FFF2-40B4-BE49-F238E27FC236}">
                <a16:creationId xmlns:a16="http://schemas.microsoft.com/office/drawing/2014/main" id="{FB96B4A4-3F14-1A9C-59C1-362CD57980A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754BCC6-0BD1-E0A3-F988-34E6DBFEBC28}"/>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3445706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820961-15D2-3857-5A6B-8CCCCDE8547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D3E596C-936D-CE0C-68CB-2E67EA94F9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168D4CA-E625-A160-F9E8-C6DCD113C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EF7B61-03D9-7EAC-58D2-B580ADA57667}"/>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6F9ED46E-556D-E832-2694-71953E65779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E22CE7-D25C-653C-28FA-0B491489A47D}"/>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412163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B1BBCC-A36D-E022-94B9-9460B0F0DEE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390D5EE-D0D0-B8FE-B591-02B35D61F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9416258-E755-41E6-68DD-BE656D02F8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E907D4C-B6DA-ADB1-7055-85EB32C206FA}"/>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F0A621C1-D9D4-0A9A-EAD2-D14920B50A7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E942CD-CE03-38B6-F47E-6A1B0EF1842F}"/>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4235889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97DE77-1E72-77EE-FFF6-39246CA65C8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356928B-CA1A-517A-C66B-D4059A01632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9EA6906-131F-2BCB-271C-A91E85991625}"/>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0E45F2D4-975C-4475-ABE2-A780F929F23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95545C-79C8-F71F-1326-F0287C840556}"/>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2608781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A064D7D-17E9-C834-07C2-B65F2AEA953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B903747-3D02-7DAB-DBC9-7978181AEE9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25BD134-E33A-897A-F53D-4302064AE234}"/>
              </a:ext>
            </a:extLst>
          </p:cNvPr>
          <p:cNvSpPr>
            <a:spLocks noGrp="1"/>
          </p:cNvSpPr>
          <p:nvPr>
            <p:ph type="dt" sz="half" idx="10"/>
          </p:nvPr>
        </p:nvSpPr>
        <p:spPr/>
        <p:txBody>
          <a:bodyPr/>
          <a:lstStyle/>
          <a:p>
            <a:fld id="{B47AEC53-861E-418C-88B3-A4B52EFA6ED3}"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9B06DC7C-D000-678E-202E-12379973DE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BD1311-6209-B39E-83F3-C2B6030FA3A6}"/>
              </a:ext>
            </a:extLst>
          </p:cNvPr>
          <p:cNvSpPr>
            <a:spLocks noGrp="1"/>
          </p:cNvSpPr>
          <p:nvPr>
            <p:ph type="sldNum" sz="quarter" idx="12"/>
          </p:nvPr>
        </p:nvSpPr>
        <p:spPr/>
        <p:txBody>
          <a:body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3394455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FA875A-1220-C57C-25D5-D7441D2E74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F0092E2-F300-FB4C-BCBF-75A3452DC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6CD317F-3B23-F382-815D-180A7F07E4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7AEC53-861E-418C-88B3-A4B52EFA6ED3}"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0AEC4FD0-0FFB-4FB2-6C13-17AB9EE9A0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C3D485D-6183-4B1D-6329-FE6B26957C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463CBD-FCCB-4318-93F1-09C60B4A427D}" type="slidenum">
              <a:rPr kumimoji="1" lang="ja-JP" altLang="en-US" smtClean="0"/>
              <a:t>‹#›</a:t>
            </a:fld>
            <a:endParaRPr kumimoji="1" lang="ja-JP" altLang="en-US"/>
          </a:p>
        </p:txBody>
      </p:sp>
    </p:spTree>
    <p:extLst>
      <p:ext uri="{BB962C8B-B14F-4D97-AF65-F5344CB8AC3E}">
        <p14:creationId xmlns:p14="http://schemas.microsoft.com/office/powerpoint/2010/main" val="324037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hyperlink" Target="https://github.com/sumidayuki/DirectX12Engine/blob/main/DirectX12Engine/DirectX12Engine/AttackableSystem.cpp" TargetMode="External"/><Relationship Id="rId4" Type="http://schemas.openxmlformats.org/officeDocument/2006/relationships/hyperlink" Target="https://github.com/sumidayuki/DirectX12Engine/blob/main/DirectX12Engine/DirectX12Engine/Attackable.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hyperlink" Target="https://github.com/sumidayuki/DirectX12Engine/blob/main/DirectX12Engine/DirectX12Engine/ArrowSystem.cpp" TargetMode="External"/><Relationship Id="rId4" Type="http://schemas.openxmlformats.org/officeDocument/2006/relationships/hyperlink" Target="https://github.com/sumidayuki/DirectX12Engine/blob/main/DirectX12Engine/DirectX12Engine/Damageable.h"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097F15-E923-93A9-63EA-CA836956596C}"/>
              </a:ext>
            </a:extLst>
          </p:cNvPr>
          <p:cNvSpPr>
            <a:spLocks noGrp="1"/>
          </p:cNvSpPr>
          <p:nvPr>
            <p:ph type="title"/>
          </p:nvPr>
        </p:nvSpPr>
        <p:spPr>
          <a:xfrm>
            <a:off x="442628" y="168015"/>
            <a:ext cx="10515600" cy="1325563"/>
          </a:xfrm>
        </p:spPr>
        <p:txBody>
          <a:bodyPr/>
          <a:lstStyle/>
          <a:p>
            <a:r>
              <a:rPr lang="ja-JP" altLang="en-US" dirty="0"/>
              <a:t>自作エンジンによる</a:t>
            </a:r>
            <a:r>
              <a:rPr lang="en-US" altLang="ja-JP" dirty="0"/>
              <a:t>3D</a:t>
            </a:r>
            <a:r>
              <a:rPr lang="ja-JP" altLang="en-US" dirty="0"/>
              <a:t>アクションゲーム</a:t>
            </a:r>
            <a:endParaRPr kumimoji="1" lang="ja-JP" altLang="en-US" dirty="0"/>
          </a:p>
        </p:txBody>
      </p:sp>
      <p:sp>
        <p:nvSpPr>
          <p:cNvPr id="3" name="テキスト ボックス 2">
            <a:extLst>
              <a:ext uri="{FF2B5EF4-FFF2-40B4-BE49-F238E27FC236}">
                <a16:creationId xmlns:a16="http://schemas.microsoft.com/office/drawing/2014/main" id="{EA9871A8-5886-3E45-DF20-85E8D1E15092}"/>
              </a:ext>
            </a:extLst>
          </p:cNvPr>
          <p:cNvSpPr txBox="1"/>
          <p:nvPr/>
        </p:nvSpPr>
        <p:spPr>
          <a:xfrm>
            <a:off x="442628" y="3811126"/>
            <a:ext cx="9954986" cy="707886"/>
          </a:xfrm>
          <a:prstGeom prst="rect">
            <a:avLst/>
          </a:prstGeom>
          <a:noFill/>
        </p:spPr>
        <p:txBody>
          <a:bodyPr wrap="square" rtlCol="0">
            <a:spAutoFit/>
          </a:bodyPr>
          <a:lstStyle/>
          <a:p>
            <a:r>
              <a:rPr kumimoji="1" lang="ja-JP" altLang="en-US" sz="4000" dirty="0"/>
              <a:t>制作目的</a:t>
            </a:r>
          </a:p>
        </p:txBody>
      </p:sp>
      <p:sp>
        <p:nvSpPr>
          <p:cNvPr id="4" name="テキスト ボックス 3">
            <a:extLst>
              <a:ext uri="{FF2B5EF4-FFF2-40B4-BE49-F238E27FC236}">
                <a16:creationId xmlns:a16="http://schemas.microsoft.com/office/drawing/2014/main" id="{D32E7D36-C829-17D4-4188-C536ABEDCA9D}"/>
              </a:ext>
            </a:extLst>
          </p:cNvPr>
          <p:cNvSpPr txBox="1"/>
          <p:nvPr/>
        </p:nvSpPr>
        <p:spPr>
          <a:xfrm>
            <a:off x="642256" y="2768358"/>
            <a:ext cx="4487126" cy="461665"/>
          </a:xfrm>
          <a:prstGeom prst="rect">
            <a:avLst/>
          </a:prstGeom>
          <a:noFill/>
        </p:spPr>
        <p:txBody>
          <a:bodyPr wrap="none" rtlCol="0">
            <a:spAutoFit/>
          </a:bodyPr>
          <a:lstStyle/>
          <a:p>
            <a:r>
              <a:rPr kumimoji="1" lang="ja-JP" altLang="en-US" sz="2400" dirty="0"/>
              <a:t>制作期間</a:t>
            </a:r>
            <a:r>
              <a:rPr kumimoji="1" lang="en-US" altLang="ja-JP" sz="2400" dirty="0"/>
              <a:t>	2025/7~</a:t>
            </a:r>
            <a:r>
              <a:rPr kumimoji="1" lang="ja-JP" altLang="en-US" sz="2400" dirty="0"/>
              <a:t>現在まで</a:t>
            </a:r>
          </a:p>
        </p:txBody>
      </p:sp>
      <p:sp>
        <p:nvSpPr>
          <p:cNvPr id="5" name="テキスト ボックス 4">
            <a:extLst>
              <a:ext uri="{FF2B5EF4-FFF2-40B4-BE49-F238E27FC236}">
                <a16:creationId xmlns:a16="http://schemas.microsoft.com/office/drawing/2014/main" id="{78F6684B-8E48-04BC-5AD7-DC29EBE769AF}"/>
              </a:ext>
            </a:extLst>
          </p:cNvPr>
          <p:cNvSpPr txBox="1"/>
          <p:nvPr/>
        </p:nvSpPr>
        <p:spPr>
          <a:xfrm>
            <a:off x="642256" y="1624105"/>
            <a:ext cx="2510624" cy="461665"/>
          </a:xfrm>
          <a:prstGeom prst="rect">
            <a:avLst/>
          </a:prstGeom>
          <a:noFill/>
        </p:spPr>
        <p:txBody>
          <a:bodyPr wrap="none" rtlCol="0">
            <a:spAutoFit/>
          </a:bodyPr>
          <a:lstStyle/>
          <a:p>
            <a:r>
              <a:rPr kumimoji="1" lang="ja-JP" altLang="en-US" sz="2400" dirty="0"/>
              <a:t>制作人数</a:t>
            </a:r>
            <a:r>
              <a:rPr kumimoji="1" lang="en-US" altLang="ja-JP" sz="2400" dirty="0"/>
              <a:t>	1</a:t>
            </a:r>
            <a:r>
              <a:rPr kumimoji="1" lang="ja-JP" altLang="en-US" sz="2400" dirty="0"/>
              <a:t>人</a:t>
            </a:r>
          </a:p>
        </p:txBody>
      </p:sp>
      <p:sp>
        <p:nvSpPr>
          <p:cNvPr id="6" name="テキスト ボックス 5">
            <a:extLst>
              <a:ext uri="{FF2B5EF4-FFF2-40B4-BE49-F238E27FC236}">
                <a16:creationId xmlns:a16="http://schemas.microsoft.com/office/drawing/2014/main" id="{E49D2290-269F-EAD8-2A7A-3668639A0D47}"/>
              </a:ext>
            </a:extLst>
          </p:cNvPr>
          <p:cNvSpPr txBox="1"/>
          <p:nvPr/>
        </p:nvSpPr>
        <p:spPr>
          <a:xfrm>
            <a:off x="642256" y="2006867"/>
            <a:ext cx="5806398" cy="461665"/>
          </a:xfrm>
          <a:prstGeom prst="rect">
            <a:avLst/>
          </a:prstGeom>
          <a:noFill/>
        </p:spPr>
        <p:txBody>
          <a:bodyPr wrap="none" rtlCol="0">
            <a:spAutoFit/>
          </a:bodyPr>
          <a:lstStyle/>
          <a:p>
            <a:r>
              <a:rPr lang="ja-JP" altLang="en-US" sz="2400" dirty="0"/>
              <a:t>使用</a:t>
            </a:r>
            <a:r>
              <a:rPr kumimoji="1" lang="ja-JP" altLang="en-US" sz="2400" dirty="0"/>
              <a:t>ツール</a:t>
            </a:r>
            <a:r>
              <a:rPr kumimoji="1" lang="en-US" altLang="ja-JP" sz="2400" dirty="0"/>
              <a:t>	VisualStudio2022</a:t>
            </a:r>
            <a:r>
              <a:rPr kumimoji="1" lang="ja-JP" altLang="en-US" sz="2400" dirty="0"/>
              <a:t>、</a:t>
            </a:r>
            <a:r>
              <a:rPr kumimoji="1" lang="en-US" altLang="ja-JP" sz="2400" dirty="0"/>
              <a:t>GitHub</a:t>
            </a:r>
            <a:endParaRPr kumimoji="1" lang="ja-JP" altLang="en-US" sz="2400" dirty="0"/>
          </a:p>
        </p:txBody>
      </p:sp>
      <p:sp>
        <p:nvSpPr>
          <p:cNvPr id="7" name="テキスト ボックス 6">
            <a:extLst>
              <a:ext uri="{FF2B5EF4-FFF2-40B4-BE49-F238E27FC236}">
                <a16:creationId xmlns:a16="http://schemas.microsoft.com/office/drawing/2014/main" id="{FE8E716D-0470-1256-2784-76F472E69288}"/>
              </a:ext>
            </a:extLst>
          </p:cNvPr>
          <p:cNvSpPr txBox="1"/>
          <p:nvPr/>
        </p:nvSpPr>
        <p:spPr>
          <a:xfrm>
            <a:off x="642256" y="2382017"/>
            <a:ext cx="4145687" cy="461665"/>
          </a:xfrm>
          <a:prstGeom prst="rect">
            <a:avLst/>
          </a:prstGeom>
          <a:noFill/>
        </p:spPr>
        <p:txBody>
          <a:bodyPr wrap="none" rtlCol="0">
            <a:spAutoFit/>
          </a:bodyPr>
          <a:lstStyle/>
          <a:p>
            <a:r>
              <a:rPr kumimoji="1" lang="ja-JP" altLang="en-US" sz="2400" dirty="0"/>
              <a:t>使用言語</a:t>
            </a:r>
            <a:r>
              <a:rPr kumimoji="1" lang="en-US" altLang="ja-JP" sz="2400" dirty="0"/>
              <a:t>	C/C++</a:t>
            </a:r>
            <a:r>
              <a:rPr kumimoji="1" lang="ja-JP" altLang="en-US" sz="2400" dirty="0"/>
              <a:t>、</a:t>
            </a:r>
            <a:r>
              <a:rPr kumimoji="1" lang="en-US" altLang="ja-JP" sz="2400" dirty="0"/>
              <a:t>HLSL</a:t>
            </a:r>
            <a:endParaRPr kumimoji="1" lang="ja-JP" altLang="en-US" sz="2400" dirty="0"/>
          </a:p>
        </p:txBody>
      </p:sp>
      <p:sp>
        <p:nvSpPr>
          <p:cNvPr id="10" name="テキスト ボックス 9">
            <a:extLst>
              <a:ext uri="{FF2B5EF4-FFF2-40B4-BE49-F238E27FC236}">
                <a16:creationId xmlns:a16="http://schemas.microsoft.com/office/drawing/2014/main" id="{E14D349A-A6E0-C74D-F674-3C95DC8884F0}"/>
              </a:ext>
            </a:extLst>
          </p:cNvPr>
          <p:cNvSpPr txBox="1"/>
          <p:nvPr/>
        </p:nvSpPr>
        <p:spPr>
          <a:xfrm>
            <a:off x="642256" y="4519012"/>
            <a:ext cx="11304698" cy="1938992"/>
          </a:xfrm>
          <a:prstGeom prst="rect">
            <a:avLst/>
          </a:prstGeom>
          <a:noFill/>
        </p:spPr>
        <p:txBody>
          <a:bodyPr wrap="none" rtlCol="0">
            <a:spAutoFit/>
          </a:bodyPr>
          <a:lstStyle/>
          <a:p>
            <a:r>
              <a:rPr lang="ja-JP" altLang="en-US" sz="2400" dirty="0"/>
              <a:t>元々は</a:t>
            </a:r>
            <a:r>
              <a:rPr lang="en-US" altLang="ja-JP" sz="2400" dirty="0"/>
              <a:t>Unity</a:t>
            </a:r>
            <a:r>
              <a:rPr lang="ja-JP" altLang="en-US" sz="2400" dirty="0"/>
              <a:t>を用いて</a:t>
            </a:r>
            <a:r>
              <a:rPr lang="en-US" altLang="ja-JP" sz="2400" dirty="0"/>
              <a:t>3D</a:t>
            </a:r>
            <a:r>
              <a:rPr lang="ja-JP" altLang="en-US" sz="2400" dirty="0"/>
              <a:t>アクションゲームを開発していましたが、</a:t>
            </a:r>
            <a:endParaRPr lang="en-US" altLang="ja-JP" sz="2400" dirty="0"/>
          </a:p>
          <a:p>
            <a:r>
              <a:rPr lang="en-US" altLang="ja-JP" sz="2400" dirty="0"/>
              <a:t>3D</a:t>
            </a:r>
            <a:r>
              <a:rPr lang="ja-JP" altLang="en-US" sz="2400" dirty="0"/>
              <a:t>アクションゲームを開発している多くの企業が使用している、</a:t>
            </a:r>
            <a:endParaRPr lang="en-US" altLang="ja-JP" sz="2400" dirty="0"/>
          </a:p>
          <a:p>
            <a:r>
              <a:rPr lang="en-US" altLang="ja-JP" sz="2400" dirty="0"/>
              <a:t>C++</a:t>
            </a:r>
            <a:r>
              <a:rPr lang="ja-JP" altLang="en-US" sz="2400" dirty="0"/>
              <a:t>での開発経験を積むため、今回の自作エンジンによる制作を決意しました。</a:t>
            </a:r>
            <a:endParaRPr lang="en-US" altLang="ja-JP" sz="2400" dirty="0"/>
          </a:p>
          <a:p>
            <a:r>
              <a:rPr lang="ja-JP" altLang="en-US" sz="2400" dirty="0"/>
              <a:t>利便性の高い市販エンジンからあえて離れ、</a:t>
            </a:r>
            <a:r>
              <a:rPr lang="en-US" altLang="ja-JP" sz="2400" dirty="0"/>
              <a:t>C++</a:t>
            </a:r>
            <a:r>
              <a:rPr lang="ja-JP" altLang="en-US" sz="2400" dirty="0"/>
              <a:t>でのメモリ管理や</a:t>
            </a:r>
            <a:endParaRPr lang="en-US" altLang="ja-JP" sz="2400" dirty="0"/>
          </a:p>
          <a:p>
            <a:r>
              <a:rPr lang="en-US" altLang="ja-JP" sz="2400" dirty="0"/>
              <a:t>DirectX12</a:t>
            </a:r>
            <a:r>
              <a:rPr lang="ja-JP" altLang="en-US" sz="2400" dirty="0"/>
              <a:t>の仕組みを深く理解することを目的としています。</a:t>
            </a:r>
            <a:endParaRPr kumimoji="1" lang="ja-JP" altLang="en-US" sz="2400" dirty="0"/>
          </a:p>
        </p:txBody>
      </p:sp>
    </p:spTree>
    <p:extLst>
      <p:ext uri="{BB962C8B-B14F-4D97-AF65-F5344CB8AC3E}">
        <p14:creationId xmlns:p14="http://schemas.microsoft.com/office/powerpoint/2010/main" val="346526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57E2B-262D-FC76-E23E-2E7A01305722}"/>
              </a:ext>
            </a:extLst>
          </p:cNvPr>
          <p:cNvSpPr>
            <a:spLocks noGrp="1"/>
          </p:cNvSpPr>
          <p:nvPr>
            <p:ph type="title"/>
          </p:nvPr>
        </p:nvSpPr>
        <p:spPr>
          <a:xfrm>
            <a:off x="741363" y="0"/>
            <a:ext cx="10512424" cy="1325563"/>
          </a:xfrm>
        </p:spPr>
        <p:txBody>
          <a:bodyPr>
            <a:normAutofit/>
          </a:bodyPr>
          <a:lstStyle/>
          <a:p>
            <a:r>
              <a:rPr kumimoji="1" lang="ja-JP" altLang="en-US" sz="4000" dirty="0"/>
              <a:t>パフォーマンスを向上させました。</a:t>
            </a:r>
          </a:p>
        </p:txBody>
      </p:sp>
      <p:sp>
        <p:nvSpPr>
          <p:cNvPr id="3" name="テキスト プレースホルダー 2">
            <a:extLst>
              <a:ext uri="{FF2B5EF4-FFF2-40B4-BE49-F238E27FC236}">
                <a16:creationId xmlns:a16="http://schemas.microsoft.com/office/drawing/2014/main" id="{1030804F-D76B-667B-5CE3-5FE10B00B38C}"/>
              </a:ext>
            </a:extLst>
          </p:cNvPr>
          <p:cNvSpPr>
            <a:spLocks noGrp="1"/>
          </p:cNvSpPr>
          <p:nvPr>
            <p:ph type="body" idx="1"/>
          </p:nvPr>
        </p:nvSpPr>
        <p:spPr>
          <a:xfrm>
            <a:off x="839787" y="2150510"/>
            <a:ext cx="5157787" cy="823912"/>
          </a:xfrm>
        </p:spPr>
        <p:txBody>
          <a:bodyPr/>
          <a:lstStyle/>
          <a:p>
            <a:r>
              <a:rPr kumimoji="1" lang="ja-JP" altLang="en-US" dirty="0"/>
              <a:t>実装前</a:t>
            </a:r>
            <a:r>
              <a:rPr kumimoji="1" lang="en-US" altLang="ja-JP" dirty="0"/>
              <a:t>(</a:t>
            </a:r>
            <a:r>
              <a:rPr lang="ja-JP" altLang="en-US" dirty="0"/>
              <a:t>シンプルな</a:t>
            </a:r>
            <a:r>
              <a:rPr lang="en-US" altLang="ja-JP" dirty="0"/>
              <a:t>ECS</a:t>
            </a:r>
            <a:r>
              <a:rPr kumimoji="1" lang="en-US" altLang="ja-JP" dirty="0"/>
              <a:t>)</a:t>
            </a:r>
            <a:endParaRPr kumimoji="1" lang="ja-JP" altLang="en-US" dirty="0"/>
          </a:p>
        </p:txBody>
      </p:sp>
      <p:pic>
        <p:nvPicPr>
          <p:cNvPr id="8" name="コンテンツ プレースホルダー 7">
            <a:extLst>
              <a:ext uri="{FF2B5EF4-FFF2-40B4-BE49-F238E27FC236}">
                <a16:creationId xmlns:a16="http://schemas.microsoft.com/office/drawing/2014/main" id="{D833D8E4-1FE5-3CCA-A802-3F93904A930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87" y="2974422"/>
            <a:ext cx="5157787" cy="3601558"/>
          </a:xfrm>
        </p:spPr>
      </p:pic>
      <p:sp>
        <p:nvSpPr>
          <p:cNvPr id="5" name="テキスト プレースホルダー 4">
            <a:extLst>
              <a:ext uri="{FF2B5EF4-FFF2-40B4-BE49-F238E27FC236}">
                <a16:creationId xmlns:a16="http://schemas.microsoft.com/office/drawing/2014/main" id="{10CD5BDD-E454-35BB-58B7-88FD00BD3BF0}"/>
              </a:ext>
            </a:extLst>
          </p:cNvPr>
          <p:cNvSpPr>
            <a:spLocks noGrp="1"/>
          </p:cNvSpPr>
          <p:nvPr>
            <p:ph type="body" sz="quarter" idx="3"/>
          </p:nvPr>
        </p:nvSpPr>
        <p:spPr>
          <a:xfrm>
            <a:off x="6169025" y="2150510"/>
            <a:ext cx="5183188" cy="823912"/>
          </a:xfrm>
        </p:spPr>
        <p:txBody>
          <a:bodyPr/>
          <a:lstStyle/>
          <a:p>
            <a:r>
              <a:rPr kumimoji="1" lang="ja-JP" altLang="en-US" dirty="0"/>
              <a:t>実装後</a:t>
            </a:r>
            <a:r>
              <a:rPr kumimoji="1" lang="en-US" altLang="ja-JP" dirty="0"/>
              <a:t>(</a:t>
            </a:r>
            <a:r>
              <a:rPr lang="en-US" altLang="ja-JP" dirty="0"/>
              <a:t>Archetype</a:t>
            </a:r>
            <a:r>
              <a:rPr lang="ja-JP" altLang="en-US" dirty="0"/>
              <a:t>ベース</a:t>
            </a:r>
            <a:r>
              <a:rPr lang="en-US" altLang="ja-JP" dirty="0"/>
              <a:t>ECS</a:t>
            </a:r>
            <a:r>
              <a:rPr kumimoji="1" lang="en-US" altLang="ja-JP" dirty="0"/>
              <a:t>)</a:t>
            </a:r>
            <a:r>
              <a:rPr lang="en-US" altLang="ja-JP" dirty="0"/>
              <a:t> </a:t>
            </a:r>
            <a:endParaRPr kumimoji="1" lang="ja-JP" altLang="en-US" dirty="0"/>
          </a:p>
        </p:txBody>
      </p:sp>
      <p:pic>
        <p:nvPicPr>
          <p:cNvPr id="10" name="コンテンツ プレースホルダー 9">
            <a:extLst>
              <a:ext uri="{FF2B5EF4-FFF2-40B4-BE49-F238E27FC236}">
                <a16:creationId xmlns:a16="http://schemas.microsoft.com/office/drawing/2014/main" id="{2D714DC3-8936-E66A-BB5C-E93AADD965B8}"/>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3908307" y="2974422"/>
            <a:ext cx="2089267" cy="460136"/>
          </a:xfrm>
        </p:spPr>
      </p:pic>
      <p:pic>
        <p:nvPicPr>
          <p:cNvPr id="15" name="コンテンツ プレースホルダー 7">
            <a:extLst>
              <a:ext uri="{FF2B5EF4-FFF2-40B4-BE49-F238E27FC236}">
                <a16:creationId xmlns:a16="http://schemas.microsoft.com/office/drawing/2014/main" id="{2C668331-E051-B404-1889-E1428CBC09E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6000" y="3845229"/>
            <a:ext cx="5157787" cy="2730751"/>
          </a:xfrm>
          <a:prstGeom prst="rect">
            <a:avLst/>
          </a:prstGeom>
        </p:spPr>
      </p:pic>
      <p:pic>
        <p:nvPicPr>
          <p:cNvPr id="17" name="図 16">
            <a:extLst>
              <a:ext uri="{FF2B5EF4-FFF2-40B4-BE49-F238E27FC236}">
                <a16:creationId xmlns:a16="http://schemas.microsoft.com/office/drawing/2014/main" id="{74316DB7-8969-F865-E347-6DEA36834A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2089" y="3434558"/>
            <a:ext cx="2191698" cy="460136"/>
          </a:xfrm>
          <a:prstGeom prst="rect">
            <a:avLst/>
          </a:prstGeom>
        </p:spPr>
      </p:pic>
      <p:sp>
        <p:nvSpPr>
          <p:cNvPr id="7" name="テキスト プレースホルダー 2">
            <a:extLst>
              <a:ext uri="{FF2B5EF4-FFF2-40B4-BE49-F238E27FC236}">
                <a16:creationId xmlns:a16="http://schemas.microsoft.com/office/drawing/2014/main" id="{EB071124-47EE-A9BD-18FA-4712717AD696}"/>
              </a:ext>
            </a:extLst>
          </p:cNvPr>
          <p:cNvSpPr txBox="1">
            <a:spLocks/>
          </p:cNvSpPr>
          <p:nvPr/>
        </p:nvSpPr>
        <p:spPr>
          <a:xfrm>
            <a:off x="433064" y="978360"/>
            <a:ext cx="11129020" cy="1424028"/>
          </a:xfrm>
          <a:prstGeom prst="rect">
            <a:avLst/>
          </a:prstGeom>
        </p:spPr>
        <p:txBody>
          <a:bodyPr vert="horz" lIns="91440" tIns="45720" rIns="91440" bIns="45720" rtlCol="0" anchor="b">
            <a:normAutofit fontScale="25000" lnSpcReduction="20000"/>
          </a:bodyPr>
          <a:lstStyle>
            <a:lvl1pPr marL="0" indent="0" algn="l" defTabSz="914400" rtl="0" eaLnBrk="1" latinLnBrk="0" hangingPunct="1">
              <a:lnSpc>
                <a:spcPct val="90000"/>
              </a:lnSpc>
              <a:spcBef>
                <a:spcPts val="1000"/>
              </a:spcBef>
              <a:buFont typeface="Arial" panose="020B0604020202020204" pitchFamily="34" charset="0"/>
              <a:buNone/>
              <a:defRPr kumimoji="1"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9pPr>
          </a:lstStyle>
          <a:p>
            <a:r>
              <a:rPr lang="ja-JP" altLang="en-US" sz="7200" b="0" dirty="0"/>
              <a:t>最初はシンプルな</a:t>
            </a:r>
            <a:r>
              <a:rPr lang="en-US" altLang="ja-JP" sz="7200" b="0" dirty="0"/>
              <a:t>ECS</a:t>
            </a:r>
            <a:r>
              <a:rPr lang="ja-JP" altLang="en-US" sz="7200" b="0" dirty="0"/>
              <a:t>を実装していたのですが、コンポーネントを個別に管理していたため、同一</a:t>
            </a:r>
            <a:r>
              <a:rPr lang="en-US" altLang="ja-JP" sz="7200" b="0" dirty="0"/>
              <a:t>Entity</a:t>
            </a:r>
            <a:r>
              <a:rPr lang="ja-JP" altLang="en-US" sz="7200" b="0" dirty="0"/>
              <a:t>の</a:t>
            </a:r>
            <a:endParaRPr lang="en-US" altLang="ja-JP" sz="7200" b="0" dirty="0"/>
          </a:p>
          <a:p>
            <a:r>
              <a:rPr lang="ja-JP" altLang="en-US" sz="7200" b="0" dirty="0"/>
              <a:t>データがメモリ上に連続しておらず、キャッシュミスが頻発して処理が重くなっていました。これを解決</a:t>
            </a:r>
            <a:endParaRPr lang="en-US" altLang="ja-JP" sz="7200" b="0" dirty="0"/>
          </a:p>
          <a:p>
            <a:r>
              <a:rPr lang="ja-JP" altLang="en-US" sz="7200" b="0" dirty="0"/>
              <a:t>するために、</a:t>
            </a:r>
            <a:r>
              <a:rPr lang="en-US" altLang="ja-JP" sz="7200" b="0" dirty="0"/>
              <a:t>Archetype</a:t>
            </a:r>
            <a:r>
              <a:rPr lang="ja-JP" altLang="en-US" sz="7200" b="0" dirty="0"/>
              <a:t>を導入したことで、同一のコンポーネントセット</a:t>
            </a:r>
            <a:r>
              <a:rPr lang="en-US" altLang="ja-JP" sz="7200" b="0" dirty="0"/>
              <a:t>(Archetype)</a:t>
            </a:r>
            <a:r>
              <a:rPr lang="ja-JP" altLang="en-US" sz="7200" b="0" dirty="0"/>
              <a:t>ごとに専用の連続メ</a:t>
            </a:r>
            <a:endParaRPr lang="en-US" altLang="ja-JP" sz="7200" b="0" dirty="0"/>
          </a:p>
          <a:p>
            <a:r>
              <a:rPr lang="ja-JP" altLang="en-US" sz="7200" b="0" dirty="0"/>
              <a:t>モリを確保し、高速化に成功しました。</a:t>
            </a:r>
            <a:endParaRPr lang="ja-JP" altLang="en-US" sz="1800" b="0" dirty="0"/>
          </a:p>
        </p:txBody>
      </p:sp>
    </p:spTree>
    <p:extLst>
      <p:ext uri="{BB962C8B-B14F-4D97-AF65-F5344CB8AC3E}">
        <p14:creationId xmlns:p14="http://schemas.microsoft.com/office/powerpoint/2010/main" val="453761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890FF6-5F42-2DBE-5B8B-6EF949E1B552}"/>
              </a:ext>
            </a:extLst>
          </p:cNvPr>
          <p:cNvSpPr>
            <a:spLocks noGrp="1"/>
          </p:cNvSpPr>
          <p:nvPr>
            <p:ph type="title"/>
          </p:nvPr>
        </p:nvSpPr>
        <p:spPr>
          <a:xfrm>
            <a:off x="839788" y="187325"/>
            <a:ext cx="3932237" cy="1600200"/>
          </a:xfrm>
        </p:spPr>
        <p:txBody>
          <a:bodyPr/>
          <a:lstStyle/>
          <a:p>
            <a:r>
              <a:rPr kumimoji="1" lang="ja-JP" altLang="en-US" dirty="0"/>
              <a:t>三角形と光線の当たり判定を実装した。</a:t>
            </a:r>
          </a:p>
        </p:txBody>
      </p:sp>
      <p:pic>
        <p:nvPicPr>
          <p:cNvPr id="6" name="図プレースホルダー 5">
            <a:extLst>
              <a:ext uri="{FF2B5EF4-FFF2-40B4-BE49-F238E27FC236}">
                <a16:creationId xmlns:a16="http://schemas.microsoft.com/office/drawing/2014/main" id="{A39A241D-1643-645A-46AC-C71C33523F85}"/>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4610" r="4610"/>
          <a:stretch/>
        </p:blipFill>
        <p:spPr/>
      </p:pic>
      <p:sp>
        <p:nvSpPr>
          <p:cNvPr id="4" name="テキスト プレースホルダー 3">
            <a:extLst>
              <a:ext uri="{FF2B5EF4-FFF2-40B4-BE49-F238E27FC236}">
                <a16:creationId xmlns:a16="http://schemas.microsoft.com/office/drawing/2014/main" id="{041DA94D-6CE3-F22F-2580-6CBBE5F51F3C}"/>
              </a:ext>
            </a:extLst>
          </p:cNvPr>
          <p:cNvSpPr>
            <a:spLocks noGrp="1"/>
          </p:cNvSpPr>
          <p:nvPr>
            <p:ph type="body" sz="half" idx="2"/>
          </p:nvPr>
        </p:nvSpPr>
        <p:spPr>
          <a:xfrm>
            <a:off x="839788" y="1787525"/>
            <a:ext cx="3932237" cy="3811588"/>
          </a:xfrm>
        </p:spPr>
        <p:txBody>
          <a:bodyPr/>
          <a:lstStyle/>
          <a:p>
            <a:r>
              <a:rPr kumimoji="1" lang="ja-JP" altLang="en-US" dirty="0"/>
              <a:t>画像のように三角形と光線の当たり判定を利用して、壁などの障害物がプレイヤーとの間にあるときに、光線が当たった場所にカメラを移動させることでカメラが障害物を貫通しないようにした。</a:t>
            </a:r>
            <a:endParaRPr kumimoji="1" lang="en-US" altLang="ja-JP" dirty="0"/>
          </a:p>
          <a:p>
            <a:r>
              <a:rPr lang="ja-JP" altLang="en-US" dirty="0"/>
              <a:t>また、この時に障害物を判定させるためのビットフラグを使用したレイヤーマスク機能も制作した。</a:t>
            </a:r>
            <a:endParaRPr kumimoji="1" lang="en-US" altLang="ja-JP" dirty="0"/>
          </a:p>
        </p:txBody>
      </p:sp>
      <p:pic>
        <p:nvPicPr>
          <p:cNvPr id="8" name="図 7">
            <a:extLst>
              <a:ext uri="{FF2B5EF4-FFF2-40B4-BE49-F238E27FC236}">
                <a16:creationId xmlns:a16="http://schemas.microsoft.com/office/drawing/2014/main" id="{F0AE3D8F-A4EB-A94C-6A9D-53A98DE4C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862" y="3803250"/>
            <a:ext cx="3858163" cy="2867425"/>
          </a:xfrm>
          <a:prstGeom prst="rect">
            <a:avLst/>
          </a:prstGeom>
        </p:spPr>
      </p:pic>
    </p:spTree>
    <p:extLst>
      <p:ext uri="{BB962C8B-B14F-4D97-AF65-F5344CB8AC3E}">
        <p14:creationId xmlns:p14="http://schemas.microsoft.com/office/powerpoint/2010/main" val="3433357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3838-58BB-CCB9-A15D-842B9D34AB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5FB679-6DC3-B3D6-4282-AA7ED4ED39A6}"/>
              </a:ext>
            </a:extLst>
          </p:cNvPr>
          <p:cNvSpPr>
            <a:spLocks noGrp="1"/>
          </p:cNvSpPr>
          <p:nvPr>
            <p:ph type="title"/>
          </p:nvPr>
        </p:nvSpPr>
        <p:spPr>
          <a:xfrm>
            <a:off x="723899" y="365125"/>
            <a:ext cx="10744200" cy="1325563"/>
          </a:xfrm>
        </p:spPr>
        <p:txBody>
          <a:bodyPr/>
          <a:lstStyle/>
          <a:p>
            <a:r>
              <a:rPr kumimoji="1" lang="ja-JP" altLang="en-US" dirty="0"/>
              <a:t>使いやすいダメージシステム</a:t>
            </a:r>
          </a:p>
        </p:txBody>
      </p:sp>
      <p:sp>
        <p:nvSpPr>
          <p:cNvPr id="3" name="テキスト ボックス 2">
            <a:extLst>
              <a:ext uri="{FF2B5EF4-FFF2-40B4-BE49-F238E27FC236}">
                <a16:creationId xmlns:a16="http://schemas.microsoft.com/office/drawing/2014/main" id="{F37D80D9-46CB-326B-07B9-971674C1EB2E}"/>
              </a:ext>
            </a:extLst>
          </p:cNvPr>
          <p:cNvSpPr txBox="1"/>
          <p:nvPr/>
        </p:nvSpPr>
        <p:spPr>
          <a:xfrm>
            <a:off x="1335721" y="2305615"/>
            <a:ext cx="9520555" cy="3108543"/>
          </a:xfrm>
          <a:prstGeom prst="rect">
            <a:avLst/>
          </a:prstGeom>
          <a:noFill/>
        </p:spPr>
        <p:txBody>
          <a:bodyPr wrap="none" rtlCol="0">
            <a:spAutoFit/>
          </a:bodyPr>
          <a:lstStyle/>
          <a:p>
            <a:r>
              <a:rPr lang="ja-JP" altLang="en-US" sz="2800" dirty="0"/>
              <a:t>敵にダメージを与える際と与えられる際に、</a:t>
            </a:r>
            <a:endParaRPr lang="en-US" altLang="ja-JP" sz="2800" dirty="0"/>
          </a:p>
          <a:p>
            <a:r>
              <a:rPr lang="ja-JP" altLang="en-US" sz="2800" dirty="0"/>
              <a:t>敵の体力を直接取得して、減らすのではなく、</a:t>
            </a:r>
            <a:endParaRPr lang="en-US" altLang="ja-JP" sz="2800" dirty="0"/>
          </a:p>
          <a:p>
            <a:r>
              <a:rPr lang="ja-JP" altLang="en-US" sz="2800" dirty="0"/>
              <a:t>ダメージをそのまま蓄積させることができ、</a:t>
            </a:r>
            <a:endParaRPr lang="en-US" altLang="ja-JP" sz="2800" dirty="0"/>
          </a:p>
          <a:p>
            <a:r>
              <a:rPr lang="ja-JP" altLang="en-US" sz="2800" dirty="0"/>
              <a:t>一回の攻撃で同じ敵に何度もダメージ判定を</a:t>
            </a:r>
            <a:endParaRPr lang="en-US" altLang="ja-JP" sz="2800" dirty="0"/>
          </a:p>
          <a:p>
            <a:r>
              <a:rPr lang="ja-JP" altLang="en-US" sz="2800" dirty="0"/>
              <a:t>行ってしまう問題を防ぐことが可能な、</a:t>
            </a:r>
            <a:endParaRPr lang="en-US" altLang="ja-JP" sz="2800" dirty="0"/>
          </a:p>
          <a:p>
            <a:r>
              <a:rPr lang="ja-JP" altLang="en-US" sz="2800" dirty="0"/>
              <a:t>汎用的なダメージシステムを作成しました。</a:t>
            </a:r>
            <a:endParaRPr lang="en-US" altLang="ja-JP" sz="2800" dirty="0"/>
          </a:p>
          <a:p>
            <a:r>
              <a:rPr kumimoji="1" lang="ja-JP" altLang="en-US" sz="2800" dirty="0"/>
              <a:t>次のページから実際のソースコードを交えて紹介します。</a:t>
            </a:r>
            <a:endParaRPr kumimoji="1" lang="en-US" altLang="ja-JP" sz="2800" dirty="0"/>
          </a:p>
        </p:txBody>
      </p:sp>
    </p:spTree>
    <p:extLst>
      <p:ext uri="{BB962C8B-B14F-4D97-AF65-F5344CB8AC3E}">
        <p14:creationId xmlns:p14="http://schemas.microsoft.com/office/powerpoint/2010/main" val="302756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D10E7-4C17-09DE-8C3F-CBE103ACAD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7E85B2-B038-E841-9B73-461FEB4647C6}"/>
              </a:ext>
            </a:extLst>
          </p:cNvPr>
          <p:cNvSpPr>
            <a:spLocks noGrp="1"/>
          </p:cNvSpPr>
          <p:nvPr>
            <p:ph type="title"/>
          </p:nvPr>
        </p:nvSpPr>
        <p:spPr>
          <a:xfrm>
            <a:off x="839788" y="188912"/>
            <a:ext cx="3932237" cy="1416368"/>
          </a:xfrm>
        </p:spPr>
        <p:txBody>
          <a:bodyPr>
            <a:normAutofit/>
          </a:bodyPr>
          <a:lstStyle/>
          <a:p>
            <a:r>
              <a:rPr kumimoji="1" lang="ja-JP" altLang="en-US" dirty="0"/>
              <a:t>使いやすいダメージシステム①</a:t>
            </a:r>
            <a:br>
              <a:rPr kumimoji="1" lang="en-US" altLang="ja-JP" dirty="0"/>
            </a:br>
            <a:r>
              <a:rPr kumimoji="1" lang="en-US" altLang="ja-JP" dirty="0"/>
              <a:t>Attackable</a:t>
            </a:r>
            <a:r>
              <a:rPr lang="ja-JP" altLang="en-US" dirty="0"/>
              <a:t>編</a:t>
            </a:r>
            <a:endParaRPr kumimoji="1" lang="ja-JP" altLang="en-US" dirty="0"/>
          </a:p>
        </p:txBody>
      </p:sp>
      <p:pic>
        <p:nvPicPr>
          <p:cNvPr id="8" name="コンテンツ プレースホルダー 7">
            <a:extLst>
              <a:ext uri="{FF2B5EF4-FFF2-40B4-BE49-F238E27FC236}">
                <a16:creationId xmlns:a16="http://schemas.microsoft.com/office/drawing/2014/main" id="{E545BBA0-8F4C-A395-2268-CC088B8A2A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4353" y="320040"/>
            <a:ext cx="4378390" cy="1494692"/>
          </a:xfrm>
        </p:spPr>
      </p:pic>
      <p:sp>
        <p:nvSpPr>
          <p:cNvPr id="4" name="テキスト プレースホルダー 3">
            <a:extLst>
              <a:ext uri="{FF2B5EF4-FFF2-40B4-BE49-F238E27FC236}">
                <a16:creationId xmlns:a16="http://schemas.microsoft.com/office/drawing/2014/main" id="{8FDA86B1-545B-4713-FA31-FE6D5435AB06}"/>
              </a:ext>
            </a:extLst>
          </p:cNvPr>
          <p:cNvSpPr>
            <a:spLocks noGrp="1"/>
          </p:cNvSpPr>
          <p:nvPr>
            <p:ph type="body" sz="half" idx="2"/>
          </p:nvPr>
        </p:nvSpPr>
        <p:spPr>
          <a:xfrm>
            <a:off x="839788" y="1605280"/>
            <a:ext cx="3932237" cy="3811588"/>
          </a:xfrm>
        </p:spPr>
        <p:txBody>
          <a:bodyPr>
            <a:noAutofit/>
          </a:bodyPr>
          <a:lstStyle/>
          <a:p>
            <a:r>
              <a:rPr lang="ja-JP" altLang="en-US" sz="2000" dirty="0"/>
              <a:t>何かにダメージを与えたい</a:t>
            </a:r>
            <a:r>
              <a:rPr lang="en-US" altLang="ja-JP" sz="2000" dirty="0"/>
              <a:t>Entity</a:t>
            </a:r>
            <a:r>
              <a:rPr lang="ja-JP" altLang="en-US" sz="2000" dirty="0"/>
              <a:t>に</a:t>
            </a:r>
            <a:r>
              <a:rPr lang="en-US" altLang="ja-JP" sz="2000" dirty="0"/>
              <a:t>Attackable</a:t>
            </a:r>
            <a:r>
              <a:rPr lang="ja-JP" altLang="en-US" sz="2000" dirty="0"/>
              <a:t>コンポーネントを付けます。</a:t>
            </a:r>
            <a:endParaRPr lang="en-US" altLang="ja-JP" sz="2000" dirty="0"/>
          </a:p>
          <a:p>
            <a:r>
              <a:rPr kumimoji="1" lang="en-US" altLang="ja-JP" sz="2000" dirty="0"/>
              <a:t>Attackable</a:t>
            </a:r>
            <a:r>
              <a:rPr kumimoji="1" lang="ja-JP" altLang="en-US" sz="2000" dirty="0"/>
              <a:t>コンポーネントでは、現在攻撃中かを確認する</a:t>
            </a:r>
            <a:r>
              <a:rPr kumimoji="1" lang="en-US" altLang="ja-JP" sz="2000" dirty="0" err="1"/>
              <a:t>isAttacking</a:t>
            </a:r>
            <a:r>
              <a:rPr kumimoji="1" lang="ja-JP" altLang="en-US" sz="2000" dirty="0"/>
              <a:t>と攻撃した</a:t>
            </a:r>
            <a:r>
              <a:rPr kumimoji="1" lang="en-US" altLang="ja-JP" sz="2000" dirty="0"/>
              <a:t>Entity</a:t>
            </a:r>
            <a:r>
              <a:rPr kumimoji="1" lang="ja-JP" altLang="en-US" sz="2000" dirty="0"/>
              <a:t>を格納する</a:t>
            </a:r>
            <a:r>
              <a:rPr lang="en-US" altLang="ja-JP" sz="2000" dirty="0"/>
              <a:t>entities</a:t>
            </a:r>
            <a:r>
              <a:rPr lang="ja-JP" altLang="en-US" sz="2000" dirty="0"/>
              <a:t>を持ちます。</a:t>
            </a:r>
            <a:r>
              <a:rPr lang="en-US" altLang="ja-JP" sz="2000" dirty="0"/>
              <a:t>(</a:t>
            </a:r>
            <a:r>
              <a:rPr lang="ja-JP" altLang="en-US" sz="2000" dirty="0"/>
              <a:t>画像②</a:t>
            </a:r>
            <a:r>
              <a:rPr lang="en-US" altLang="ja-JP" sz="2000" dirty="0"/>
              <a:t>)</a:t>
            </a:r>
          </a:p>
          <a:p>
            <a:r>
              <a:rPr lang="ja-JP" altLang="en-US" sz="2000" dirty="0"/>
              <a:t>それぞれの攻撃システムでは、攻撃中に</a:t>
            </a:r>
            <a:r>
              <a:rPr lang="en-US" altLang="ja-JP" sz="2000" dirty="0" err="1"/>
              <a:t>isAttacking</a:t>
            </a:r>
            <a:r>
              <a:rPr lang="ja-JP" altLang="en-US" sz="2000" dirty="0"/>
              <a:t>を有効にし、</a:t>
            </a:r>
            <a:r>
              <a:rPr lang="en-US" altLang="ja-JP" sz="2000" dirty="0"/>
              <a:t>entities</a:t>
            </a:r>
            <a:r>
              <a:rPr lang="ja-JP" altLang="en-US" sz="2000" dirty="0"/>
              <a:t>に攻撃をした</a:t>
            </a:r>
            <a:r>
              <a:rPr lang="en-US" altLang="ja-JP" sz="2000" dirty="0"/>
              <a:t>Entity</a:t>
            </a:r>
            <a:r>
              <a:rPr lang="ja-JP" altLang="en-US" sz="2000" dirty="0"/>
              <a:t>を格納することで、ダメージを与える際に、既に攻撃済みの</a:t>
            </a:r>
            <a:r>
              <a:rPr lang="en-US" altLang="ja-JP" sz="2000" dirty="0"/>
              <a:t>Entity</a:t>
            </a:r>
            <a:r>
              <a:rPr lang="ja-JP" altLang="en-US" sz="2000" dirty="0"/>
              <a:t>を知ることができ、一回の攻撃で同じものに複数回ダメージを与えてしまうことがなくなります。</a:t>
            </a:r>
            <a:r>
              <a:rPr kumimoji="1" lang="en-US" altLang="ja-JP" sz="2000" dirty="0"/>
              <a:t>(</a:t>
            </a:r>
            <a:r>
              <a:rPr kumimoji="1" lang="ja-JP" altLang="en-US" sz="2000" dirty="0"/>
              <a:t>画像③</a:t>
            </a:r>
            <a:r>
              <a:rPr kumimoji="1" lang="en-US" altLang="ja-JP" sz="2000" dirty="0"/>
              <a:t>)</a:t>
            </a:r>
            <a:endParaRPr kumimoji="1" lang="ja-JP" altLang="en-US" sz="2000" dirty="0"/>
          </a:p>
        </p:txBody>
      </p:sp>
      <p:pic>
        <p:nvPicPr>
          <p:cNvPr id="10" name="図 9">
            <a:extLst>
              <a:ext uri="{FF2B5EF4-FFF2-40B4-BE49-F238E27FC236}">
                <a16:creationId xmlns:a16="http://schemas.microsoft.com/office/drawing/2014/main" id="{E7CC51C1-9110-F074-C09D-831810F71C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7724" y="2623979"/>
            <a:ext cx="4179396" cy="3539692"/>
          </a:xfrm>
          <a:prstGeom prst="rect">
            <a:avLst/>
          </a:prstGeom>
        </p:spPr>
      </p:pic>
      <p:sp>
        <p:nvSpPr>
          <p:cNvPr id="3" name="テキスト ボックス 2">
            <a:extLst>
              <a:ext uri="{FF2B5EF4-FFF2-40B4-BE49-F238E27FC236}">
                <a16:creationId xmlns:a16="http://schemas.microsoft.com/office/drawing/2014/main" id="{D5008349-4711-169B-AEE4-5E85497B1774}"/>
              </a:ext>
            </a:extLst>
          </p:cNvPr>
          <p:cNvSpPr txBox="1"/>
          <p:nvPr/>
        </p:nvSpPr>
        <p:spPr>
          <a:xfrm>
            <a:off x="5811061" y="1815904"/>
            <a:ext cx="4395019" cy="584775"/>
          </a:xfrm>
          <a:prstGeom prst="rect">
            <a:avLst/>
          </a:prstGeom>
          <a:noFill/>
        </p:spPr>
        <p:txBody>
          <a:bodyPr wrap="square" rtlCol="0">
            <a:spAutoFit/>
          </a:bodyPr>
          <a:lstStyle/>
          <a:p>
            <a:r>
              <a:rPr kumimoji="1" lang="en-US" altLang="ja-JP" sz="1200" dirty="0"/>
              <a:t>(</a:t>
            </a:r>
            <a:r>
              <a:rPr kumimoji="1" lang="ja-JP" altLang="en-US" sz="1200" dirty="0"/>
              <a:t>画像①</a:t>
            </a:r>
            <a:r>
              <a:rPr kumimoji="1" lang="en-US" altLang="ja-JP" sz="1200" dirty="0"/>
              <a:t>)</a:t>
            </a:r>
          </a:p>
          <a:p>
            <a:r>
              <a:rPr lang="en-US" altLang="ja-JP" sz="1000" dirty="0">
                <a:hlinkClick r:id="rId4"/>
              </a:rPr>
              <a:t>DirectX12Engine/DirectX12Engine/DirectX12Engine/</a:t>
            </a:r>
            <a:r>
              <a:rPr lang="en-US" altLang="ja-JP" sz="1000" dirty="0" err="1">
                <a:hlinkClick r:id="rId4"/>
              </a:rPr>
              <a:t>Attackable.h</a:t>
            </a:r>
            <a:r>
              <a:rPr lang="en-US" altLang="ja-JP" sz="1000" dirty="0">
                <a:hlinkClick r:id="rId4"/>
              </a:rPr>
              <a:t> at main · </a:t>
            </a:r>
            <a:r>
              <a:rPr lang="en-US" altLang="ja-JP" sz="1000" dirty="0" err="1">
                <a:hlinkClick r:id="rId4"/>
              </a:rPr>
              <a:t>sumidayuki</a:t>
            </a:r>
            <a:r>
              <a:rPr lang="en-US" altLang="ja-JP" sz="1000" dirty="0">
                <a:hlinkClick r:id="rId4"/>
              </a:rPr>
              <a:t>/DirectX12Engine</a:t>
            </a:r>
            <a:endParaRPr kumimoji="1" lang="ja-JP" altLang="en-US" sz="1000" dirty="0"/>
          </a:p>
        </p:txBody>
      </p:sp>
      <p:sp>
        <p:nvSpPr>
          <p:cNvPr id="11" name="テキスト ボックス 10">
            <a:extLst>
              <a:ext uri="{FF2B5EF4-FFF2-40B4-BE49-F238E27FC236}">
                <a16:creationId xmlns:a16="http://schemas.microsoft.com/office/drawing/2014/main" id="{066AE30D-C261-75EC-1D15-A4C007E46D9A}"/>
              </a:ext>
            </a:extLst>
          </p:cNvPr>
          <p:cNvSpPr txBox="1"/>
          <p:nvPr/>
        </p:nvSpPr>
        <p:spPr>
          <a:xfrm>
            <a:off x="5797724" y="6163671"/>
            <a:ext cx="4395019" cy="584775"/>
          </a:xfrm>
          <a:prstGeom prst="rect">
            <a:avLst/>
          </a:prstGeom>
          <a:noFill/>
        </p:spPr>
        <p:txBody>
          <a:bodyPr wrap="square" rtlCol="0">
            <a:spAutoFit/>
          </a:bodyPr>
          <a:lstStyle/>
          <a:p>
            <a:r>
              <a:rPr kumimoji="1" lang="en-US" altLang="ja-JP" sz="1200" dirty="0"/>
              <a:t>(</a:t>
            </a:r>
            <a:r>
              <a:rPr kumimoji="1" lang="ja-JP" altLang="en-US" sz="1200" dirty="0"/>
              <a:t>画像②</a:t>
            </a:r>
            <a:r>
              <a:rPr kumimoji="1" lang="en-US" altLang="ja-JP" sz="1200" dirty="0"/>
              <a:t>)</a:t>
            </a:r>
          </a:p>
          <a:p>
            <a:r>
              <a:rPr lang="en-US" altLang="ja-JP" sz="1000" dirty="0">
                <a:hlinkClick r:id="rId5"/>
              </a:rPr>
              <a:t>DirectX12Engine/DirectX12Engine/DirectX12Engine/AttackableSystem.cpp at main · </a:t>
            </a:r>
            <a:r>
              <a:rPr lang="en-US" altLang="ja-JP" sz="1000" dirty="0" err="1">
                <a:hlinkClick r:id="rId5"/>
              </a:rPr>
              <a:t>sumidayuki</a:t>
            </a:r>
            <a:r>
              <a:rPr lang="en-US" altLang="ja-JP" sz="1000" dirty="0">
                <a:hlinkClick r:id="rId5"/>
              </a:rPr>
              <a:t>/DirectX12Engine</a:t>
            </a:r>
            <a:endParaRPr kumimoji="1" lang="ja-JP" altLang="en-US" sz="1000" dirty="0"/>
          </a:p>
        </p:txBody>
      </p:sp>
    </p:spTree>
    <p:extLst>
      <p:ext uri="{BB962C8B-B14F-4D97-AF65-F5344CB8AC3E}">
        <p14:creationId xmlns:p14="http://schemas.microsoft.com/office/powerpoint/2010/main" val="337089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コンテンツ プレースホルダー 6">
            <a:extLst>
              <a:ext uri="{FF2B5EF4-FFF2-40B4-BE49-F238E27FC236}">
                <a16:creationId xmlns:a16="http://schemas.microsoft.com/office/drawing/2014/main" id="{AD4AFFE0-0336-8987-3DD1-42D04B1681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65712" y="2458416"/>
            <a:ext cx="6586248" cy="3985360"/>
          </a:xfrm>
        </p:spPr>
      </p:pic>
      <p:pic>
        <p:nvPicPr>
          <p:cNvPr id="11" name="図 10">
            <a:extLst>
              <a:ext uri="{FF2B5EF4-FFF2-40B4-BE49-F238E27FC236}">
                <a16:creationId xmlns:a16="http://schemas.microsoft.com/office/drawing/2014/main" id="{60585442-F1D3-E0A6-D3E1-4657DFD7A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712" y="63957"/>
            <a:ext cx="2593617" cy="2336591"/>
          </a:xfrm>
          <a:prstGeom prst="rect">
            <a:avLst/>
          </a:prstGeom>
        </p:spPr>
      </p:pic>
      <p:sp>
        <p:nvSpPr>
          <p:cNvPr id="12" name="テキスト ボックス 11">
            <a:extLst>
              <a:ext uri="{FF2B5EF4-FFF2-40B4-BE49-F238E27FC236}">
                <a16:creationId xmlns:a16="http://schemas.microsoft.com/office/drawing/2014/main" id="{05F10E32-54C2-E6F1-DEC2-1EAA33A5C389}"/>
              </a:ext>
            </a:extLst>
          </p:cNvPr>
          <p:cNvSpPr txBox="1"/>
          <p:nvPr/>
        </p:nvSpPr>
        <p:spPr>
          <a:xfrm>
            <a:off x="7659329" y="63957"/>
            <a:ext cx="4395019" cy="584775"/>
          </a:xfrm>
          <a:prstGeom prst="rect">
            <a:avLst/>
          </a:prstGeom>
          <a:noFill/>
        </p:spPr>
        <p:txBody>
          <a:bodyPr wrap="square" rtlCol="0">
            <a:spAutoFit/>
          </a:bodyPr>
          <a:lstStyle/>
          <a:p>
            <a:r>
              <a:rPr kumimoji="1" lang="en-US" altLang="ja-JP" sz="1200" dirty="0"/>
              <a:t>(</a:t>
            </a:r>
            <a:r>
              <a:rPr kumimoji="1" lang="ja-JP" altLang="en-US" sz="1200" dirty="0"/>
              <a:t>画像①</a:t>
            </a:r>
            <a:r>
              <a:rPr kumimoji="1" lang="en-US" altLang="ja-JP" sz="1200" dirty="0"/>
              <a:t>)</a:t>
            </a:r>
          </a:p>
          <a:p>
            <a:r>
              <a:rPr lang="en-US" altLang="ja-JP" sz="1000" dirty="0">
                <a:hlinkClick r:id="rId4"/>
              </a:rPr>
              <a:t>DirectX12Engine/DirectX12Engine/DirectX12Engine/</a:t>
            </a:r>
            <a:r>
              <a:rPr lang="en-US" altLang="ja-JP" sz="1000" dirty="0" err="1">
                <a:hlinkClick r:id="rId4"/>
              </a:rPr>
              <a:t>Damageable.h</a:t>
            </a:r>
            <a:r>
              <a:rPr lang="en-US" altLang="ja-JP" sz="1000" dirty="0">
                <a:hlinkClick r:id="rId4"/>
              </a:rPr>
              <a:t> at main · </a:t>
            </a:r>
            <a:r>
              <a:rPr lang="en-US" altLang="ja-JP" sz="1000" dirty="0" err="1">
                <a:hlinkClick r:id="rId4"/>
              </a:rPr>
              <a:t>sumidayuki</a:t>
            </a:r>
            <a:r>
              <a:rPr lang="en-US" altLang="ja-JP" sz="1000" dirty="0">
                <a:hlinkClick r:id="rId4"/>
              </a:rPr>
              <a:t>/DirectX12Engine</a:t>
            </a:r>
            <a:endParaRPr kumimoji="1" lang="ja-JP" altLang="en-US" sz="1000" dirty="0"/>
          </a:p>
        </p:txBody>
      </p:sp>
      <p:sp>
        <p:nvSpPr>
          <p:cNvPr id="13" name="テキスト ボックス 12">
            <a:extLst>
              <a:ext uri="{FF2B5EF4-FFF2-40B4-BE49-F238E27FC236}">
                <a16:creationId xmlns:a16="http://schemas.microsoft.com/office/drawing/2014/main" id="{76CE6748-BBDA-D08A-806E-54D51AC579F5}"/>
              </a:ext>
            </a:extLst>
          </p:cNvPr>
          <p:cNvSpPr txBox="1"/>
          <p:nvPr/>
        </p:nvSpPr>
        <p:spPr>
          <a:xfrm>
            <a:off x="5065712" y="6443776"/>
            <a:ext cx="7126288" cy="430887"/>
          </a:xfrm>
          <a:prstGeom prst="rect">
            <a:avLst/>
          </a:prstGeom>
          <a:noFill/>
        </p:spPr>
        <p:txBody>
          <a:bodyPr wrap="square" rtlCol="0">
            <a:spAutoFit/>
          </a:bodyPr>
          <a:lstStyle/>
          <a:p>
            <a:r>
              <a:rPr kumimoji="1" lang="en-US" altLang="ja-JP" sz="1200" dirty="0"/>
              <a:t>(</a:t>
            </a:r>
            <a:r>
              <a:rPr kumimoji="1" lang="ja-JP" altLang="en-US" sz="1200" dirty="0"/>
              <a:t>画像②</a:t>
            </a:r>
            <a:r>
              <a:rPr kumimoji="1" lang="en-US" altLang="ja-JP" sz="1200" dirty="0"/>
              <a:t>)</a:t>
            </a:r>
          </a:p>
          <a:p>
            <a:r>
              <a:rPr lang="en-US" altLang="ja-JP" sz="1000" dirty="0">
                <a:hlinkClick r:id="rId5"/>
              </a:rPr>
              <a:t>DirectX12Engine/DirectX12Engine/DirectX12Engine/ArrowSystem.cpp at main · </a:t>
            </a:r>
            <a:r>
              <a:rPr lang="en-US" altLang="ja-JP" sz="1000" dirty="0" err="1">
                <a:hlinkClick r:id="rId5"/>
              </a:rPr>
              <a:t>sumidayuki</a:t>
            </a:r>
            <a:r>
              <a:rPr lang="en-US" altLang="ja-JP" sz="1000" dirty="0">
                <a:hlinkClick r:id="rId5"/>
              </a:rPr>
              <a:t>/DirectX12Engine</a:t>
            </a:r>
            <a:endParaRPr kumimoji="1" lang="ja-JP" altLang="en-US" sz="1000" dirty="0"/>
          </a:p>
        </p:txBody>
      </p:sp>
      <p:sp>
        <p:nvSpPr>
          <p:cNvPr id="3" name="タイトル 1">
            <a:extLst>
              <a:ext uri="{FF2B5EF4-FFF2-40B4-BE49-F238E27FC236}">
                <a16:creationId xmlns:a16="http://schemas.microsoft.com/office/drawing/2014/main" id="{C9C297BF-892D-BA52-73A6-7884FE4BD0AA}"/>
              </a:ext>
            </a:extLst>
          </p:cNvPr>
          <p:cNvSpPr txBox="1">
            <a:spLocks/>
          </p:cNvSpPr>
          <p:nvPr/>
        </p:nvSpPr>
        <p:spPr>
          <a:xfrm>
            <a:off x="839788" y="188912"/>
            <a:ext cx="3932237" cy="14163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3200" kern="1200">
                <a:solidFill>
                  <a:schemeClr val="tx1"/>
                </a:solidFill>
                <a:latin typeface="+mj-lt"/>
                <a:ea typeface="+mj-ea"/>
                <a:cs typeface="+mj-cs"/>
              </a:defRPr>
            </a:lvl1pPr>
          </a:lstStyle>
          <a:p>
            <a:r>
              <a:rPr lang="ja-JP" altLang="en-US" dirty="0"/>
              <a:t>使いやすいダメージシステム②</a:t>
            </a:r>
            <a:br>
              <a:rPr lang="en-US" altLang="ja-JP" dirty="0"/>
            </a:br>
            <a:r>
              <a:rPr lang="en-US" altLang="ja-JP" dirty="0"/>
              <a:t>Damageable</a:t>
            </a:r>
            <a:r>
              <a:rPr lang="ja-JP" altLang="en-US" dirty="0"/>
              <a:t>編</a:t>
            </a:r>
          </a:p>
        </p:txBody>
      </p:sp>
      <p:sp>
        <p:nvSpPr>
          <p:cNvPr id="10" name="テキスト プレースホルダー 3">
            <a:extLst>
              <a:ext uri="{FF2B5EF4-FFF2-40B4-BE49-F238E27FC236}">
                <a16:creationId xmlns:a16="http://schemas.microsoft.com/office/drawing/2014/main" id="{5428C1D4-EF70-DB3D-47F8-811F6BD188B2}"/>
              </a:ext>
            </a:extLst>
          </p:cNvPr>
          <p:cNvSpPr txBox="1">
            <a:spLocks/>
          </p:cNvSpPr>
          <p:nvPr/>
        </p:nvSpPr>
        <p:spPr>
          <a:xfrm>
            <a:off x="839788" y="1605280"/>
            <a:ext cx="3932237" cy="381158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000" kern="1200">
                <a:solidFill>
                  <a:schemeClr val="tx1"/>
                </a:solidFill>
                <a:latin typeface="+mn-lt"/>
                <a:ea typeface="+mn-ea"/>
                <a:cs typeface="+mn-cs"/>
              </a:defRPr>
            </a:lvl9pPr>
          </a:lstStyle>
          <a:p>
            <a:r>
              <a:rPr lang="ja-JP" altLang="en-US" sz="2000"/>
              <a:t>ダメージを受けたい</a:t>
            </a:r>
            <a:r>
              <a:rPr lang="en-US" altLang="ja-JP" sz="2000"/>
              <a:t>Entity</a:t>
            </a:r>
            <a:r>
              <a:rPr lang="ja-JP" altLang="en-US" sz="2000"/>
              <a:t>にこのコンポーネントをアタッチします。</a:t>
            </a:r>
            <a:endParaRPr lang="en-US" altLang="ja-JP" sz="2000"/>
          </a:p>
          <a:p>
            <a:r>
              <a:rPr lang="en-US" altLang="ja-JP" sz="2000"/>
              <a:t>Damageable</a:t>
            </a:r>
            <a:r>
              <a:rPr lang="ja-JP" altLang="en-US" sz="2000"/>
              <a:t>コンポーネントは</a:t>
            </a:r>
            <a:r>
              <a:rPr lang="en-US" altLang="ja-JP" sz="2000"/>
              <a:t>Damage</a:t>
            </a:r>
            <a:r>
              <a:rPr lang="ja-JP" altLang="en-US" sz="2000"/>
              <a:t>構造体を格納することができる</a:t>
            </a:r>
            <a:r>
              <a:rPr lang="en-US" altLang="ja-JP" sz="2000"/>
              <a:t>damageQueue</a:t>
            </a:r>
            <a:r>
              <a:rPr lang="ja-JP" altLang="en-US" sz="2000"/>
              <a:t>だけを所持しています。</a:t>
            </a:r>
            <a:r>
              <a:rPr lang="en-US" altLang="ja-JP" sz="2000"/>
              <a:t>(</a:t>
            </a:r>
            <a:r>
              <a:rPr lang="ja-JP" altLang="en-US" sz="2000"/>
              <a:t>画像①</a:t>
            </a:r>
            <a:r>
              <a:rPr lang="en-US" altLang="ja-JP" sz="2000"/>
              <a:t>)</a:t>
            </a:r>
          </a:p>
          <a:p>
            <a:r>
              <a:rPr lang="ja-JP" altLang="en-US" sz="2000"/>
              <a:t>ダメージを与える側のプレイヤーがダメージを与えたい</a:t>
            </a:r>
            <a:r>
              <a:rPr lang="en-US" altLang="ja-JP" sz="2000"/>
              <a:t>Entity</a:t>
            </a:r>
            <a:r>
              <a:rPr lang="ja-JP" altLang="en-US" sz="2000"/>
              <a:t>の</a:t>
            </a:r>
            <a:r>
              <a:rPr lang="en-US" altLang="ja-JP" sz="2000"/>
              <a:t>Damageable</a:t>
            </a:r>
            <a:r>
              <a:rPr lang="ja-JP" altLang="en-US" sz="2000"/>
              <a:t>コンポーネントを取得し、</a:t>
            </a:r>
            <a:r>
              <a:rPr lang="en-US" altLang="ja-JP" sz="2000"/>
              <a:t>Damage</a:t>
            </a:r>
            <a:r>
              <a:rPr lang="ja-JP" altLang="en-US" sz="2000"/>
              <a:t>を作成して</a:t>
            </a:r>
            <a:r>
              <a:rPr lang="en-US" altLang="ja-JP" sz="2000"/>
              <a:t>Damageable</a:t>
            </a:r>
            <a:r>
              <a:rPr lang="ja-JP" altLang="en-US" sz="2000"/>
              <a:t>に</a:t>
            </a:r>
            <a:r>
              <a:rPr lang="en-US" altLang="ja-JP" sz="2000"/>
              <a:t>push</a:t>
            </a:r>
            <a:r>
              <a:rPr lang="ja-JP" altLang="en-US" sz="2000"/>
              <a:t>することで、ダメージを受ける側はこの中身を一つずつ</a:t>
            </a:r>
            <a:r>
              <a:rPr lang="en-US" altLang="ja-JP" sz="2000"/>
              <a:t>pop</a:t>
            </a:r>
            <a:r>
              <a:rPr lang="ja-JP" altLang="en-US" sz="2000"/>
              <a:t>するだけ良い仕様になっています。</a:t>
            </a:r>
            <a:r>
              <a:rPr lang="en-US" altLang="ja-JP" sz="2000"/>
              <a:t>(</a:t>
            </a:r>
            <a:r>
              <a:rPr lang="ja-JP" altLang="en-US" sz="2000"/>
              <a:t>画像②</a:t>
            </a:r>
            <a:r>
              <a:rPr lang="en-US" altLang="ja-JP" sz="2000"/>
              <a:t>)</a:t>
            </a:r>
            <a:endParaRPr lang="en-US" altLang="ja-JP" sz="2000" dirty="0"/>
          </a:p>
        </p:txBody>
      </p:sp>
    </p:spTree>
    <p:extLst>
      <p:ext uri="{BB962C8B-B14F-4D97-AF65-F5344CB8AC3E}">
        <p14:creationId xmlns:p14="http://schemas.microsoft.com/office/powerpoint/2010/main" val="901568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C4A221-FB06-0EEA-DD0B-D4692DA25FE7}"/>
              </a:ext>
            </a:extLst>
          </p:cNvPr>
          <p:cNvSpPr>
            <a:spLocks noGrp="1"/>
          </p:cNvSpPr>
          <p:nvPr>
            <p:ph type="title"/>
          </p:nvPr>
        </p:nvSpPr>
        <p:spPr>
          <a:xfrm>
            <a:off x="554989" y="365125"/>
            <a:ext cx="11082019" cy="1325563"/>
          </a:xfrm>
        </p:spPr>
        <p:txBody>
          <a:bodyPr/>
          <a:lstStyle/>
          <a:p>
            <a:r>
              <a:rPr kumimoji="1" lang="en-US" altLang="ja-JP" dirty="0"/>
              <a:t>JSON</a:t>
            </a:r>
            <a:r>
              <a:rPr kumimoji="1" lang="ja-JP" altLang="en-US" dirty="0"/>
              <a:t>を使用した、データの外部ファイル化</a:t>
            </a:r>
          </a:p>
        </p:txBody>
      </p:sp>
      <p:sp>
        <p:nvSpPr>
          <p:cNvPr id="3" name="テキスト ボックス 2">
            <a:extLst>
              <a:ext uri="{FF2B5EF4-FFF2-40B4-BE49-F238E27FC236}">
                <a16:creationId xmlns:a16="http://schemas.microsoft.com/office/drawing/2014/main" id="{92229A67-7C67-5161-6F5D-D9DAF98D4821}"/>
              </a:ext>
            </a:extLst>
          </p:cNvPr>
          <p:cNvSpPr txBox="1"/>
          <p:nvPr/>
        </p:nvSpPr>
        <p:spPr>
          <a:xfrm>
            <a:off x="1864713" y="2090172"/>
            <a:ext cx="8627683" cy="2677656"/>
          </a:xfrm>
          <a:prstGeom prst="rect">
            <a:avLst/>
          </a:prstGeom>
          <a:noFill/>
        </p:spPr>
        <p:txBody>
          <a:bodyPr wrap="none" rtlCol="0">
            <a:spAutoFit/>
          </a:bodyPr>
          <a:lstStyle/>
          <a:p>
            <a:r>
              <a:rPr lang="ja-JP" altLang="en-US" sz="2800" dirty="0"/>
              <a:t>データ構造を工夫して、</a:t>
            </a:r>
            <a:endParaRPr lang="en-US" altLang="ja-JP" sz="2800" dirty="0"/>
          </a:p>
          <a:p>
            <a:r>
              <a:rPr lang="ja-JP" altLang="en-US" sz="2800" dirty="0"/>
              <a:t>データを外部ファイルで管理するようにしたことで</a:t>
            </a:r>
            <a:endParaRPr lang="en-US" altLang="ja-JP" sz="2800" dirty="0"/>
          </a:p>
          <a:p>
            <a:r>
              <a:rPr lang="ja-JP" altLang="en-US" sz="2800" dirty="0"/>
              <a:t>追加・変更に強くなり、</a:t>
            </a:r>
            <a:endParaRPr lang="en-US" altLang="ja-JP" sz="2800" dirty="0"/>
          </a:p>
          <a:p>
            <a:r>
              <a:rPr lang="ja-JP" altLang="en-US" sz="2800" dirty="0"/>
              <a:t>制作を効率的に進めることできました。</a:t>
            </a:r>
            <a:endParaRPr lang="en-US" altLang="ja-JP" sz="2800" dirty="0"/>
          </a:p>
          <a:p>
            <a:r>
              <a:rPr lang="ja-JP" altLang="en-US" sz="2800" dirty="0"/>
              <a:t>次のページから実際に</a:t>
            </a:r>
            <a:r>
              <a:rPr lang="en-US" altLang="ja-JP" sz="2800" dirty="0"/>
              <a:t>JSON</a:t>
            </a:r>
            <a:r>
              <a:rPr lang="ja-JP" altLang="en-US" sz="2800" dirty="0"/>
              <a:t>ファイルを使用した例を</a:t>
            </a:r>
            <a:endParaRPr lang="en-US" altLang="ja-JP" sz="2800" dirty="0"/>
          </a:p>
          <a:p>
            <a:r>
              <a:rPr lang="ja-JP" altLang="en-US" sz="2800" dirty="0"/>
              <a:t>いくつかピックアップして紹介します。</a:t>
            </a:r>
            <a:endParaRPr lang="en-US" altLang="ja-JP" sz="2800" dirty="0"/>
          </a:p>
        </p:txBody>
      </p:sp>
    </p:spTree>
    <p:extLst>
      <p:ext uri="{BB962C8B-B14F-4D97-AF65-F5344CB8AC3E}">
        <p14:creationId xmlns:p14="http://schemas.microsoft.com/office/powerpoint/2010/main" val="2669818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0723E-C792-B119-D22A-18123FB7C9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835E7C-559E-0DEF-EB7E-8B4B6BAEA170}"/>
              </a:ext>
            </a:extLst>
          </p:cNvPr>
          <p:cNvSpPr>
            <a:spLocks noGrp="1"/>
          </p:cNvSpPr>
          <p:nvPr>
            <p:ph type="title"/>
          </p:nvPr>
        </p:nvSpPr>
        <p:spPr>
          <a:xfrm>
            <a:off x="310515" y="334645"/>
            <a:ext cx="11570970" cy="1325563"/>
          </a:xfrm>
        </p:spPr>
        <p:txBody>
          <a:bodyPr/>
          <a:lstStyle/>
          <a:p>
            <a:r>
              <a:rPr kumimoji="1" lang="en-US" altLang="ja-JP" dirty="0"/>
              <a:t>JSON</a:t>
            </a:r>
            <a:r>
              <a:rPr kumimoji="1" lang="ja-JP" altLang="en-US" dirty="0"/>
              <a:t>を使用した、データの外部ファイル化</a:t>
            </a:r>
            <a:r>
              <a:rPr lang="ja-JP" altLang="en-US" dirty="0"/>
              <a:t>①</a:t>
            </a:r>
            <a:endParaRPr kumimoji="1" lang="ja-JP" altLang="en-US" dirty="0"/>
          </a:p>
        </p:txBody>
      </p:sp>
      <p:sp>
        <p:nvSpPr>
          <p:cNvPr id="4" name="テキスト ボックス 3">
            <a:extLst>
              <a:ext uri="{FF2B5EF4-FFF2-40B4-BE49-F238E27FC236}">
                <a16:creationId xmlns:a16="http://schemas.microsoft.com/office/drawing/2014/main" id="{B0B88487-F84B-80CB-2B0D-D5731CBAE213}"/>
              </a:ext>
            </a:extLst>
          </p:cNvPr>
          <p:cNvSpPr txBox="1"/>
          <p:nvPr/>
        </p:nvSpPr>
        <p:spPr>
          <a:xfrm>
            <a:off x="524162" y="1995488"/>
            <a:ext cx="5197415" cy="3785652"/>
          </a:xfrm>
          <a:prstGeom prst="rect">
            <a:avLst/>
          </a:prstGeom>
          <a:noFill/>
        </p:spPr>
        <p:txBody>
          <a:bodyPr wrap="square" rtlCol="0">
            <a:spAutoFit/>
          </a:bodyPr>
          <a:lstStyle/>
          <a:p>
            <a:r>
              <a:rPr lang="en-US" altLang="ja-JP" sz="2400" dirty="0"/>
              <a:t>AI</a:t>
            </a:r>
            <a:r>
              <a:rPr lang="ja-JP" altLang="en-US" sz="2400" dirty="0"/>
              <a:t>の変更を簡単にするために</a:t>
            </a:r>
            <a:r>
              <a:rPr lang="en-US" altLang="ja-JP" sz="2400" dirty="0"/>
              <a:t>AI</a:t>
            </a:r>
            <a:r>
              <a:rPr lang="ja-JP" altLang="en-US" sz="2400" dirty="0"/>
              <a:t>をデータで表せるようにしました。</a:t>
            </a:r>
            <a:r>
              <a:rPr lang="en-US" altLang="ja-JP" sz="2400" dirty="0"/>
              <a:t>JSON</a:t>
            </a:r>
            <a:r>
              <a:rPr kumimoji="1" lang="ja-JP" altLang="en-US" sz="2400" dirty="0"/>
              <a:t>でステートを一つ一つ追加することで拡張・変更に柔軟に対応できるような仕組みを制作しました。</a:t>
            </a:r>
            <a:endParaRPr kumimoji="1" lang="en-US" altLang="ja-JP" sz="2400" dirty="0"/>
          </a:p>
          <a:p>
            <a:r>
              <a:rPr lang="ja-JP" altLang="en-US" sz="2400" dirty="0"/>
              <a:t>敵</a:t>
            </a:r>
            <a:r>
              <a:rPr lang="en-US" altLang="ja-JP" sz="2400" dirty="0"/>
              <a:t>AI</a:t>
            </a:r>
            <a:r>
              <a:rPr lang="ja-JP" altLang="en-US" sz="2400" dirty="0"/>
              <a:t>も</a:t>
            </a:r>
            <a:r>
              <a:rPr kumimoji="1" lang="ja-JP" altLang="en-US" sz="2400" dirty="0"/>
              <a:t>プレイヤーを動かすシステムと同じシステムを使って</a:t>
            </a:r>
            <a:r>
              <a:rPr lang="ja-JP" altLang="en-US" sz="2400" dirty="0"/>
              <a:t>おり、事前にプログラムされた通りに仮想の入力を作成しているのでプレイヤーも</a:t>
            </a:r>
            <a:r>
              <a:rPr lang="en-US" altLang="ja-JP" sz="2400" dirty="0"/>
              <a:t>AI</a:t>
            </a:r>
            <a:r>
              <a:rPr lang="ja-JP" altLang="en-US" sz="2400" dirty="0"/>
              <a:t>化することが可能になっています。</a:t>
            </a:r>
            <a:endParaRPr kumimoji="1" lang="ja-JP" altLang="en-US" sz="2400" dirty="0"/>
          </a:p>
        </p:txBody>
      </p:sp>
      <p:pic>
        <p:nvPicPr>
          <p:cNvPr id="5" name="図 4">
            <a:extLst>
              <a:ext uri="{FF2B5EF4-FFF2-40B4-BE49-F238E27FC236}">
                <a16:creationId xmlns:a16="http://schemas.microsoft.com/office/drawing/2014/main" id="{0BF7BD4C-6869-6F96-AB41-363A51026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8672" y="1995488"/>
            <a:ext cx="5849166" cy="3505689"/>
          </a:xfrm>
          <a:prstGeom prst="rect">
            <a:avLst/>
          </a:prstGeom>
        </p:spPr>
      </p:pic>
    </p:spTree>
    <p:extLst>
      <p:ext uri="{BB962C8B-B14F-4D97-AF65-F5344CB8AC3E}">
        <p14:creationId xmlns:p14="http://schemas.microsoft.com/office/powerpoint/2010/main" val="1890109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ACCF-E0AF-F763-4CD1-A4691B8108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5CA4BB-070F-322D-8821-409634550001}"/>
              </a:ext>
            </a:extLst>
          </p:cNvPr>
          <p:cNvSpPr>
            <a:spLocks noGrp="1"/>
          </p:cNvSpPr>
          <p:nvPr>
            <p:ph type="title"/>
          </p:nvPr>
        </p:nvSpPr>
        <p:spPr>
          <a:xfrm>
            <a:off x="290195" y="314325"/>
            <a:ext cx="11611610" cy="1325563"/>
          </a:xfrm>
        </p:spPr>
        <p:txBody>
          <a:bodyPr/>
          <a:lstStyle/>
          <a:p>
            <a:r>
              <a:rPr kumimoji="1" lang="en-US" altLang="ja-JP" dirty="0"/>
              <a:t>JSON</a:t>
            </a:r>
            <a:r>
              <a:rPr kumimoji="1" lang="ja-JP" altLang="en-US" dirty="0"/>
              <a:t>を使用した、データの外部ファイル化②</a:t>
            </a:r>
          </a:p>
        </p:txBody>
      </p:sp>
      <p:sp>
        <p:nvSpPr>
          <p:cNvPr id="4" name="テキスト ボックス 3">
            <a:extLst>
              <a:ext uri="{FF2B5EF4-FFF2-40B4-BE49-F238E27FC236}">
                <a16:creationId xmlns:a16="http://schemas.microsoft.com/office/drawing/2014/main" id="{12280E09-EAAE-C5D4-CCBB-E7DA090879EF}"/>
              </a:ext>
            </a:extLst>
          </p:cNvPr>
          <p:cNvSpPr txBox="1"/>
          <p:nvPr/>
        </p:nvSpPr>
        <p:spPr>
          <a:xfrm>
            <a:off x="524162" y="1995488"/>
            <a:ext cx="5197415" cy="3785652"/>
          </a:xfrm>
          <a:prstGeom prst="rect">
            <a:avLst/>
          </a:prstGeom>
          <a:noFill/>
        </p:spPr>
        <p:txBody>
          <a:bodyPr wrap="square" rtlCol="0">
            <a:spAutoFit/>
          </a:bodyPr>
          <a:lstStyle/>
          <a:p>
            <a:r>
              <a:rPr kumimoji="1" lang="ja-JP" altLang="en-US" sz="2400" dirty="0"/>
              <a:t>ゲーム内で簡単に</a:t>
            </a:r>
            <a:r>
              <a:rPr lang="ja-JP" altLang="en-US" sz="2400" dirty="0"/>
              <a:t>シェーダーを切り替えれるように、パイプラインステート作成時に必要な描画設定を</a:t>
            </a:r>
            <a:r>
              <a:rPr lang="en-US" altLang="ja-JP" sz="2400" dirty="0"/>
              <a:t>JSON</a:t>
            </a:r>
            <a:r>
              <a:rPr lang="ja-JP" altLang="en-US" sz="2400" dirty="0"/>
              <a:t>で事前に設定できるようにしました。これにより、</a:t>
            </a:r>
            <a:r>
              <a:rPr lang="en-US" altLang="ja-JP" sz="2400" dirty="0"/>
              <a:t>JSON</a:t>
            </a:r>
            <a:r>
              <a:rPr lang="ja-JP" altLang="en-US" sz="2400" dirty="0"/>
              <a:t>ファイルを読み込むだけで、起動時に必要なパイプラインステート（</a:t>
            </a:r>
            <a:r>
              <a:rPr lang="en-US" altLang="ja-JP" sz="2400" dirty="0"/>
              <a:t>PSO</a:t>
            </a:r>
            <a:r>
              <a:rPr lang="ja-JP" altLang="en-US" sz="2400" dirty="0"/>
              <a:t>）の構築とシェーダーコンパイルが自動で行われ、ゲーム内で動的に描画設定を切り替えることが可能です。</a:t>
            </a:r>
            <a:endParaRPr lang="en-US" altLang="ja-JP" sz="2400" dirty="0"/>
          </a:p>
        </p:txBody>
      </p:sp>
      <p:pic>
        <p:nvPicPr>
          <p:cNvPr id="6" name="図 5">
            <a:extLst>
              <a:ext uri="{FF2B5EF4-FFF2-40B4-BE49-F238E27FC236}">
                <a16:creationId xmlns:a16="http://schemas.microsoft.com/office/drawing/2014/main" id="{4F20BB57-BFDB-83DD-864D-F002DF5558D1}"/>
              </a:ext>
            </a:extLst>
          </p:cNvPr>
          <p:cNvPicPr>
            <a:picLocks noChangeAspect="1"/>
          </p:cNvPicPr>
          <p:nvPr/>
        </p:nvPicPr>
        <p:blipFill>
          <a:blip r:embed="rId2"/>
          <a:stretch>
            <a:fillRect/>
          </a:stretch>
        </p:blipFill>
        <p:spPr>
          <a:xfrm>
            <a:off x="6028251" y="1885343"/>
            <a:ext cx="5430008" cy="4143953"/>
          </a:xfrm>
          <a:prstGeom prst="rect">
            <a:avLst/>
          </a:prstGeom>
        </p:spPr>
      </p:pic>
    </p:spTree>
    <p:extLst>
      <p:ext uri="{BB962C8B-B14F-4D97-AF65-F5344CB8AC3E}">
        <p14:creationId xmlns:p14="http://schemas.microsoft.com/office/powerpoint/2010/main" val="2858447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7FB7-26B6-5886-6F01-04CA93CA6E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7DADD8-B426-C35D-ACFE-6D108FF41D53}"/>
              </a:ext>
            </a:extLst>
          </p:cNvPr>
          <p:cNvSpPr>
            <a:spLocks noGrp="1"/>
          </p:cNvSpPr>
          <p:nvPr>
            <p:ph type="title"/>
          </p:nvPr>
        </p:nvSpPr>
        <p:spPr>
          <a:xfrm>
            <a:off x="300355" y="365125"/>
            <a:ext cx="11591290" cy="1325563"/>
          </a:xfrm>
        </p:spPr>
        <p:txBody>
          <a:bodyPr/>
          <a:lstStyle/>
          <a:p>
            <a:r>
              <a:rPr kumimoji="1" lang="en-US" altLang="ja-JP" dirty="0"/>
              <a:t>JSON</a:t>
            </a:r>
            <a:r>
              <a:rPr kumimoji="1" lang="ja-JP" altLang="en-US" dirty="0"/>
              <a:t>を使用した、データの外部ファイル化③</a:t>
            </a:r>
          </a:p>
        </p:txBody>
      </p:sp>
      <p:sp>
        <p:nvSpPr>
          <p:cNvPr id="4" name="テキスト ボックス 3">
            <a:extLst>
              <a:ext uri="{FF2B5EF4-FFF2-40B4-BE49-F238E27FC236}">
                <a16:creationId xmlns:a16="http://schemas.microsoft.com/office/drawing/2014/main" id="{225D0DB2-DE06-7E78-C6F5-BAA9CE3111CC}"/>
              </a:ext>
            </a:extLst>
          </p:cNvPr>
          <p:cNvSpPr txBox="1"/>
          <p:nvPr/>
        </p:nvSpPr>
        <p:spPr>
          <a:xfrm>
            <a:off x="524162" y="1995488"/>
            <a:ext cx="5197415" cy="3046988"/>
          </a:xfrm>
          <a:prstGeom prst="rect">
            <a:avLst/>
          </a:prstGeom>
          <a:noFill/>
        </p:spPr>
        <p:txBody>
          <a:bodyPr wrap="square" rtlCol="0">
            <a:spAutoFit/>
          </a:bodyPr>
          <a:lstStyle/>
          <a:p>
            <a:r>
              <a:rPr lang="ja-JP" altLang="en-US" sz="2400" dirty="0"/>
              <a:t>アニメーションの特定のキーフレームで音を鳴らしたりしたいときに簡単に行うためのアニメーションイベントを</a:t>
            </a:r>
            <a:r>
              <a:rPr lang="en-US" altLang="ja-JP" sz="2400" dirty="0"/>
              <a:t>JSON</a:t>
            </a:r>
            <a:r>
              <a:rPr lang="ja-JP" altLang="en-US" sz="2400" dirty="0"/>
              <a:t>で表現しました。</a:t>
            </a:r>
            <a:endParaRPr lang="en-US" altLang="ja-JP" sz="2400" dirty="0"/>
          </a:p>
          <a:p>
            <a:r>
              <a:rPr lang="ja-JP" altLang="en-US" sz="2400" dirty="0"/>
              <a:t>事前に用意した関数に、</a:t>
            </a:r>
            <a:r>
              <a:rPr lang="en-US" altLang="ja-JP" sz="2400" dirty="0"/>
              <a:t>JSON</a:t>
            </a:r>
            <a:r>
              <a:rPr lang="ja-JP" altLang="en-US" sz="2400" dirty="0"/>
              <a:t>で変数を設定する形で、指定したキーフレームでイベントを実行することができるようになっています。</a:t>
            </a:r>
            <a:endParaRPr lang="en-US" altLang="ja-JP" sz="2400" dirty="0"/>
          </a:p>
        </p:txBody>
      </p:sp>
      <p:pic>
        <p:nvPicPr>
          <p:cNvPr id="8" name="図 7">
            <a:extLst>
              <a:ext uri="{FF2B5EF4-FFF2-40B4-BE49-F238E27FC236}">
                <a16:creationId xmlns:a16="http://schemas.microsoft.com/office/drawing/2014/main" id="{579B0D73-EE69-93FC-6127-FB1DCAC6A975}"/>
              </a:ext>
            </a:extLst>
          </p:cNvPr>
          <p:cNvPicPr>
            <a:picLocks noChangeAspect="1"/>
          </p:cNvPicPr>
          <p:nvPr/>
        </p:nvPicPr>
        <p:blipFill>
          <a:blip r:embed="rId2"/>
          <a:stretch>
            <a:fillRect/>
          </a:stretch>
        </p:blipFill>
        <p:spPr>
          <a:xfrm>
            <a:off x="6585541" y="1690688"/>
            <a:ext cx="4315427" cy="4801270"/>
          </a:xfrm>
          <a:prstGeom prst="rect">
            <a:avLst/>
          </a:prstGeom>
        </p:spPr>
      </p:pic>
    </p:spTree>
    <p:extLst>
      <p:ext uri="{BB962C8B-B14F-4D97-AF65-F5344CB8AC3E}">
        <p14:creationId xmlns:p14="http://schemas.microsoft.com/office/powerpoint/2010/main" val="274791648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622</TotalTime>
  <Words>944</Words>
  <Application>Microsoft Office PowerPoint</Application>
  <PresentationFormat>ワイド画面</PresentationFormat>
  <Paragraphs>61</Paragraphs>
  <Slides>10</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游ゴシック</vt:lpstr>
      <vt:lpstr>游ゴシック Light</vt:lpstr>
      <vt:lpstr>Arial</vt:lpstr>
      <vt:lpstr>Office テーマ</vt:lpstr>
      <vt:lpstr>自作エンジンによる3Dアクションゲーム</vt:lpstr>
      <vt:lpstr>パフォーマンスを向上させました。</vt:lpstr>
      <vt:lpstr>三角形と光線の当たり判定を実装した。</vt:lpstr>
      <vt:lpstr>使いやすいダメージシステム</vt:lpstr>
      <vt:lpstr>使いやすいダメージシステム① Attackable編</vt:lpstr>
      <vt:lpstr>PowerPoint プレゼンテーション</vt:lpstr>
      <vt:lpstr>JSONを使用した、データの外部ファイル化</vt:lpstr>
      <vt:lpstr>JSONを使用した、データの外部ファイル化①</vt:lpstr>
      <vt:lpstr>JSONを使用した、データの外部ファイル化②</vt:lpstr>
      <vt:lpstr>JSONを使用した、データの外部ファイル化③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夢輝 隅田</dc:creator>
  <cp:lastModifiedBy>夢輝 隅田</cp:lastModifiedBy>
  <cp:revision>8</cp:revision>
  <dcterms:created xsi:type="dcterms:W3CDTF">2025-11-27T04:25:35Z</dcterms:created>
  <dcterms:modified xsi:type="dcterms:W3CDTF">2026-06-30T17:39:52Z</dcterms:modified>
</cp:coreProperties>
</file>